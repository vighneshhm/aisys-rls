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ac9e1f8-8704-76d2-d51e-da2af63b6bbc}">
          <p14:sldIdLst>
            <p14:sldId id="256"/>
          </p14:sldIdLst>
        </p14:section>
        <p14:section name="The case" id="{2a76e139-1ec0-149c-f80b-736df02f1de3}">
          <p14:sldIdLst>
            <p14:sldId id="257"/>
            <p14:sldId id="258"/>
          </p14:sldIdLst>
        </p14:section>
        <p14:section name="The product" id="{23bb494e-4721-bfe3-9a51-f517671b236e}">
          <p14:sldIdLst>
            <p14:sldId id="259"/>
            <p14:sldId id="260"/>
          </p14:sldIdLst>
        </p14:section>
        <p14:section name="Fit and trust" id="{346c67db-0348-8eea-ba9d-52d0d811bc57}">
          <p14:sldIdLst>
            <p14:sldId id="261"/>
            <p14:sldId id="262"/>
            <p14:sldId id="263"/>
            <p14:sldId id="264"/>
          </p14:sldIdLst>
        </p14:section>
        <p14:section name="Proof and next steps" id="{a57500c2-7736-5e7a-10d6-cf6d9de78c2c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pitch: we add RFID to the library system a library already has. No rip and replace.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everyday pains. Then the real blocker: most libraries cannot replace their ILMS. That is the gap we fill.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design idea. Everything that touches the ILMS goes through one connector interface, so any ILMS can be supported by writing one adapter.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things a librarian will notice on day one. Each one is a menu in the application and each is demonstrable.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story: tag, lend, gate, inventory. This is exactly the demo path in the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about status: mock and SIP2 are built. SIP2 was tested against a simulator, not a vendor system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catalogues live in spreadsheets. Import is staged: nothing reaches the live catalogue until the librarian commits, and a committed batch can be rolled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Libraries hold patron data. Roles, an append-only audit trail, privacy tools and proven backups are part of the product, not extras.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library servers are isolated. The whole lifecycle works offline and failures leave the old version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come from the test suite and the traceability matrix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devices and services are mocks and SIP2 has only met a simulator. The path to a pilot is short because each real driver is one class behind an existing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them to run it. The README clone steps take about five minutes and load a full demo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49377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08960"/>
            <a:ext cx="4754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BFE3E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RFID for the library you already run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089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E3E1"/>
                </a:solidFill>
              </a:rPr>
              <a:t>AISYS RFID Library: an add-on that sits beside your ILMS, not instead of it</a:t>
            </a:r>
            <a:endParaRPr lang="en-US" sz="1800" dirty="0"/>
          </a:p>
        </p:txBody>
      </p:sp>
      <p:sp>
        <p:nvSpPr>
          <p:cNvPr id="4" name="Hero circle"/>
          <p:cNvSpPr/>
          <p:nvPr/>
        </p:nvSpPr>
        <p:spPr>
          <a:xfrm>
            <a:off x="5943600" y="960120"/>
            <a:ext cx="2651760" cy="265176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5" name="Hero inner circle"/>
          <p:cNvSpPr/>
          <p:nvPr/>
        </p:nvSpPr>
        <p:spPr>
          <a:xfrm>
            <a:off x="6400800" y="1417320"/>
            <a:ext cx="1737360" cy="1737360"/>
          </a:xfrm>
          <a:prstGeom prst="ellipse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pic>
        <p:nvPicPr>
          <p:cNvPr id="6" name="Hero icon" descr="RFID sig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9202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AISYS Technical Evaluation ·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Libraries want RFID, not a new ILMS</a:t>
            </a:r>
            <a:endParaRPr lang="en-US" sz="3200" dirty="0"/>
          </a:p>
        </p:txBody>
      </p:sp>
      <p:sp>
        <p:nvSpPr>
          <p:cNvPr id="3" name="Problem card 1"/>
          <p:cNvSpPr/>
          <p:nvPr/>
        </p:nvSpPr>
        <p:spPr>
          <a:xfrm>
            <a:off x="548640" y="137160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Slow desks circle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5" name="Icon Slow desks" descr="Icon Slow des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desks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889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 is scanned one at a time, so queues form at busy hours.</a:t>
            </a:r>
            <a:endParaRPr lang="en-US" sz="1400" dirty="0"/>
          </a:p>
        </p:txBody>
      </p:sp>
      <p:sp>
        <p:nvSpPr>
          <p:cNvPr id="8" name="Problem card 2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 Slow stock-takes circle"/>
          <p:cNvSpPr/>
          <p:nvPr/>
        </p:nvSpPr>
        <p:spPr>
          <a:xfrm>
            <a:off x="3520440" y="160020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10" name="Icon Slow stock-takes" descr="Icon Slow stock-tak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stock-takes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7889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check shelves by hand to find what is missing or misplaced.</a:t>
            </a:r>
            <a:endParaRPr lang="en-US" sz="1400" dirty="0"/>
          </a:p>
        </p:txBody>
      </p:sp>
      <p:sp>
        <p:nvSpPr>
          <p:cNvPr id="13" name="Problem card 3"/>
          <p:cNvSpPr/>
          <p:nvPr/>
        </p:nvSpPr>
        <p:spPr>
          <a:xfrm>
            <a:off x="6035040" y="137160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 Quiet losses circle"/>
          <p:cNvSpPr/>
          <p:nvPr/>
        </p:nvSpPr>
        <p:spPr>
          <a:xfrm>
            <a:off x="6263640" y="160020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15" name="Icon Quiet losses" descr="Icon Quiet loss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7602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Quiet losses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7889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 can walk out of the door and nobody knows until it is missed.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the whole library system just to get RFID is costly and risky.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Our answer: an add-on, not a replacement</a:t>
            </a:r>
            <a:endParaRPr lang="en-US" sz="3200" dirty="0"/>
          </a:p>
        </p:txBody>
      </p:sp>
      <p:sp>
        <p:nvSpPr>
          <p:cNvPr id="3" name="Block RFID devices"/>
          <p:cNvSpPr/>
          <p:nvPr/>
        </p:nvSpPr>
        <p:spPr>
          <a:xfrm>
            <a:off x="548640" y="155448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RFID devices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· handheld · gate · camera · card printer</a:t>
            </a:r>
            <a:endParaRPr lang="en-US" sz="1400" dirty="0"/>
          </a:p>
        </p:txBody>
      </p:sp>
      <p:sp>
        <p:nvSpPr>
          <p:cNvPr id="6" name="Block AISYS add-on"/>
          <p:cNvSpPr/>
          <p:nvPr/>
        </p:nvSpPr>
        <p:spPr>
          <a:xfrm>
            <a:off x="3520440" y="155448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70332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AISYS add-on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703320" y="2240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· circulation · inventory · gate · reports</a:t>
            </a:r>
            <a:endParaRPr lang="en-US" sz="1400" dirty="0"/>
          </a:p>
        </p:txBody>
      </p:sp>
      <p:sp>
        <p:nvSpPr>
          <p:cNvPr id="9" name="Block Your ILMS"/>
          <p:cNvSpPr/>
          <p:nvPr/>
        </p:nvSpPr>
        <p:spPr>
          <a:xfrm>
            <a:off x="6492240" y="155448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5A6B78"/>
          </a:solidFill>
          <a:ln w="12700">
            <a:solidFill>
              <a:srgbClr val="5A6B7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7512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ILMS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240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and rules stay exactly where they are</a:t>
            </a:r>
            <a:endParaRPr lang="en-US" sz="1400" dirty="0"/>
          </a:p>
        </p:txBody>
      </p:sp>
      <p:sp>
        <p:nvSpPr>
          <p:cNvPr id="12" name="Arrow 1"/>
          <p:cNvSpPr/>
          <p:nvPr/>
        </p:nvSpPr>
        <p:spPr>
          <a:xfrm>
            <a:off x="2926080" y="2240280"/>
            <a:ext cx="548640" cy="365760"/>
          </a:xfrm>
          <a:prstGeom prst="rightArrow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Arrow 2"/>
          <p:cNvSpPr/>
          <p:nvPr/>
        </p:nvSpPr>
        <p:spPr>
          <a:xfrm>
            <a:off x="5897880" y="2240280"/>
            <a:ext cx="548640" cy="365760"/>
          </a:xfrm>
          <a:prstGeom prst="rightArrow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connector sits between the add-on and the ILMS. Swap the connector, not the application.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staff get</a:t>
            </a:r>
            <a:endParaRPr lang="en-US" sz="3200" dirty="0"/>
          </a:p>
        </p:txBody>
      </p:sp>
      <p:sp>
        <p:nvSpPr>
          <p:cNvPr id="3" name="Feature card Tag and track"/>
          <p:cNvSpPr/>
          <p:nvPr/>
        </p:nvSpPr>
        <p:spPr>
          <a:xfrm>
            <a:off x="548640" y="132588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Tag and track circle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5" name="Icon Tag and track" descr="Icon Tag and tr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6344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5087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 and track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305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 tag to each book. See where every copy is.</a:t>
            </a:r>
            <a:endParaRPr lang="en-US" sz="1400" dirty="0"/>
          </a:p>
        </p:txBody>
      </p:sp>
      <p:sp>
        <p:nvSpPr>
          <p:cNvPr id="8" name="Feature card Fast circulation"/>
          <p:cNvSpPr/>
          <p:nvPr/>
        </p:nvSpPr>
        <p:spPr>
          <a:xfrm>
            <a:off x="3291840" y="132588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 Fast circulation circle"/>
          <p:cNvSpPr/>
          <p:nvPr/>
        </p:nvSpPr>
        <p:spPr>
          <a:xfrm>
            <a:off x="3474720" y="1508760"/>
            <a:ext cx="502920" cy="50292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10" name="Icon Fast circulation" descr="Icon Fast circul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163449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15087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circulation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1305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out, renew and return with fines and blocks.</a:t>
            </a:r>
            <a:endParaRPr lang="en-US" sz="1400" dirty="0"/>
          </a:p>
        </p:txBody>
      </p:sp>
      <p:sp>
        <p:nvSpPr>
          <p:cNvPr id="13" name="Feature card Shelf inventory"/>
          <p:cNvSpPr/>
          <p:nvPr/>
        </p:nvSpPr>
        <p:spPr>
          <a:xfrm>
            <a:off x="6035040" y="132588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 Shelf inventory circle"/>
          <p:cNvSpPr/>
          <p:nvPr/>
        </p:nvSpPr>
        <p:spPr>
          <a:xfrm>
            <a:off x="6217920" y="1508760"/>
            <a:ext cx="502920" cy="50292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15" name="Icon Shelf inventory" descr="Icon Shelf invento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163449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15087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Shelf inventory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1305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sweep shows found, missing and misplaced books.</a:t>
            </a:r>
            <a:endParaRPr lang="en-US" sz="1400" dirty="0"/>
          </a:p>
        </p:txBody>
      </p:sp>
      <p:sp>
        <p:nvSpPr>
          <p:cNvPr id="18" name="Feature card Security gate"/>
          <p:cNvSpPr/>
          <p:nvPr/>
        </p:nvSpPr>
        <p:spPr>
          <a:xfrm>
            <a:off x="548640" y="301752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on Security gate circle"/>
          <p:cNvSpPr/>
          <p:nvPr/>
        </p:nvSpPr>
        <p:spPr>
          <a:xfrm>
            <a:off x="731520" y="3200400"/>
            <a:ext cx="502920" cy="50292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20" name="Icon Security gate" descr="Icon Security ga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32613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3200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gate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38221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with a camera snapshot if a book is not checked out.</a:t>
            </a:r>
            <a:endParaRPr lang="en-US" sz="1400" dirty="0"/>
          </a:p>
        </p:txBody>
      </p:sp>
      <p:sp>
        <p:nvSpPr>
          <p:cNvPr id="23" name="Feature card Patron reminders"/>
          <p:cNvSpPr/>
          <p:nvPr/>
        </p:nvSpPr>
        <p:spPr>
          <a:xfrm>
            <a:off x="3291840" y="301752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con Patron reminders circle"/>
          <p:cNvSpPr/>
          <p:nvPr/>
        </p:nvSpPr>
        <p:spPr>
          <a:xfrm>
            <a:off x="3474720" y="3200400"/>
            <a:ext cx="502920" cy="50292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25" name="Icon Patron reminders" descr="Icon Patron remind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450" y="332613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14800" y="3200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Patron reminders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8221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or SMS before a loan is due.</a:t>
            </a:r>
            <a:endParaRPr lang="en-US" sz="1400" dirty="0"/>
          </a:p>
        </p:txBody>
      </p:sp>
      <p:sp>
        <p:nvSpPr>
          <p:cNvPr id="28" name="Feature card Reports and dashboard"/>
          <p:cNvSpPr/>
          <p:nvPr/>
        </p:nvSpPr>
        <p:spPr>
          <a:xfrm>
            <a:off x="6035040" y="301752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con Reports and dashboard circle"/>
          <p:cNvSpPr/>
          <p:nvPr/>
        </p:nvSpPr>
        <p:spPr>
          <a:xfrm>
            <a:off x="6217920" y="3200400"/>
            <a:ext cx="502920" cy="50292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30" name="Icon Reports and dashboard" descr="Icon Reports and dashboar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3650" y="332613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0" y="3200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and dashboard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8221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reports, CSV export and live counts.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 day at the desk</a:t>
            </a:r>
            <a:endParaRPr lang="en-US" sz="3200" dirty="0"/>
          </a:p>
        </p:txBody>
      </p:sp>
      <p:sp>
        <p:nvSpPr>
          <p:cNvPr id="3" name="Step circle 1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 a book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blank tag and link it to the book's record.</a:t>
            </a:r>
            <a:endParaRPr lang="en-US" sz="1400" dirty="0"/>
          </a:p>
        </p:txBody>
      </p:sp>
      <p:sp>
        <p:nvSpPr>
          <p:cNvPr id="7" name="Flow arrow 1"/>
          <p:cNvSpPr/>
          <p:nvPr/>
        </p:nvSpPr>
        <p:spPr>
          <a:xfrm>
            <a:off x="1325880" y="1627632"/>
            <a:ext cx="822960" cy="310896"/>
          </a:xfrm>
          <a:prstGeom prst="rightArrow">
            <a:avLst/>
          </a:prstGeom>
          <a:solidFill>
            <a:srgbClr val="BFE3E1"/>
          </a:solidFill>
          <a:ln w="12700">
            <a:solidFill>
              <a:srgbClr val="BFE3E1"/>
            </a:solidFill>
            <a:prstDash val="solid"/>
          </a:ln>
        </p:spPr>
      </p:sp>
      <p:sp>
        <p:nvSpPr>
          <p:cNvPr id="8" name="Step circle 2"/>
          <p:cNvSpPr/>
          <p:nvPr/>
        </p:nvSpPr>
        <p:spPr>
          <a:xfrm>
            <a:off x="2606040" y="146304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 it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card and the book. The ILMS decides.</a:t>
            </a:r>
            <a:endParaRPr lang="en-US" sz="1400" dirty="0"/>
          </a:p>
        </p:txBody>
      </p:sp>
      <p:sp>
        <p:nvSpPr>
          <p:cNvPr id="12" name="Flow arrow 2"/>
          <p:cNvSpPr/>
          <p:nvPr/>
        </p:nvSpPr>
        <p:spPr>
          <a:xfrm>
            <a:off x="3383280" y="1627632"/>
            <a:ext cx="822960" cy="310896"/>
          </a:xfrm>
          <a:prstGeom prst="rightArrow">
            <a:avLst/>
          </a:prstGeom>
          <a:solidFill>
            <a:srgbClr val="BFE3E1"/>
          </a:solidFill>
          <a:ln w="12700">
            <a:solidFill>
              <a:srgbClr val="BFE3E1"/>
            </a:solidFill>
            <a:prstDash val="solid"/>
          </a:ln>
        </p:spPr>
      </p:sp>
      <p:sp>
        <p:nvSpPr>
          <p:cNvPr id="13" name="Step circle 3"/>
          <p:cNvSpPr/>
          <p:nvPr/>
        </p:nvSpPr>
        <p:spPr>
          <a:xfrm>
            <a:off x="4663440" y="146304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watches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alarm if lent. Alarm and snapshot if not.</a:t>
            </a:r>
            <a:endParaRPr lang="en-US" sz="1400" dirty="0"/>
          </a:p>
        </p:txBody>
      </p:sp>
      <p:sp>
        <p:nvSpPr>
          <p:cNvPr id="17" name="Flow arrow 3"/>
          <p:cNvSpPr/>
          <p:nvPr/>
        </p:nvSpPr>
        <p:spPr>
          <a:xfrm>
            <a:off x="5440680" y="1627632"/>
            <a:ext cx="822960" cy="310896"/>
          </a:xfrm>
          <a:prstGeom prst="rightArrow">
            <a:avLst/>
          </a:prstGeom>
          <a:solidFill>
            <a:srgbClr val="BFE3E1"/>
          </a:solidFill>
          <a:ln w="12700">
            <a:solidFill>
              <a:srgbClr val="BFE3E1"/>
            </a:solidFill>
            <a:prstDash val="solid"/>
          </a:ln>
        </p:spPr>
      </p:sp>
      <p:sp>
        <p:nvSpPr>
          <p:cNvPr id="18" name="Step circle 4"/>
          <p:cNvSpPr/>
          <p:nvPr/>
        </p:nvSpPr>
        <p:spPr>
          <a:xfrm>
            <a:off x="6720840" y="146304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208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Stock-take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shelf. Missing and misplaced show up.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recorded, so staff can always see who did what.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Fits the ILMS you already have</a:t>
            </a:r>
            <a:endParaRPr lang="en-US" sz="3200" dirty="0"/>
          </a:p>
        </p:txBody>
      </p:sp>
      <p:sp>
        <p:nvSpPr>
          <p:cNvPr id="3" name="Connector Mock ILMS"/>
          <p:cNvSpPr/>
          <p:nvPr/>
        </p:nvSpPr>
        <p:spPr>
          <a:xfrm>
            <a:off x="548640" y="137160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ILMS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in. Lets any team try everything with no setup.</a:t>
            </a:r>
            <a:endParaRPr lang="en-US" sz="1400" dirty="0"/>
          </a:p>
        </p:txBody>
      </p:sp>
      <p:sp>
        <p:nvSpPr>
          <p:cNvPr id="6" name="Connector SIP2 connector"/>
          <p:cNvSpPr/>
          <p:nvPr/>
        </p:nvSpPr>
        <p:spPr>
          <a:xfrm>
            <a:off x="3291840" y="137160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74720" y="1554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SIP2 connector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057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tested. The standard way libraries talk to their ILMS.</a:t>
            </a:r>
            <a:endParaRPr lang="en-US" sz="1400" dirty="0"/>
          </a:p>
        </p:txBody>
      </p:sp>
      <p:sp>
        <p:nvSpPr>
          <p:cNvPr id="9" name="Connector Your ILMS"/>
          <p:cNvSpPr/>
          <p:nvPr/>
        </p:nvSpPr>
        <p:spPr>
          <a:xfrm>
            <a:off x="6035040" y="137160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5A6B78"/>
          </a:solidFill>
          <a:ln w="12700">
            <a:solidFill>
              <a:srgbClr val="5A6B7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17920" y="1554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ILMS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057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adapter class behind the same connector. NCIP can follow.</a:t>
            </a:r>
            <a:endParaRPr lang="en-US" sz="1400" dirty="0"/>
          </a:p>
        </p:txBody>
      </p:sp>
      <p:sp>
        <p:nvSpPr>
          <p:cNvPr id="12" name="Icon outage circle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3" name="Icon outage" descr="Icon out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61188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280160" y="3429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ILMS is slow or drops a reply, AISYS retries safely. A book is never lent twice.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Moving in takes an afternoon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rows imported, checked and reconciled</a:t>
            </a:r>
            <a:endParaRPr lang="en-US" sz="1600" dirty="0"/>
          </a:p>
        </p:txBody>
      </p:sp>
      <p:sp>
        <p:nvSpPr>
          <p:cNvPr id="5" name="Icon Upload your spreadsheet circle"/>
          <p:cNvSpPr/>
          <p:nvPr/>
        </p:nvSpPr>
        <p:spPr>
          <a:xfrm>
            <a:off x="4572000" y="1371600"/>
            <a:ext cx="548640" cy="54864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6" name="Icon Upload your spreadsheet" descr="Icon Upload your spreadshe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5087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03520" y="1371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spreadsheet</a:t>
            </a:r>
            <a:endParaRPr lang="en-US" sz="1800" dirty="0"/>
          </a:p>
        </p:txBody>
      </p:sp>
      <p:sp>
        <p:nvSpPr>
          <p:cNvPr id="8" name="Icon Review the problems it finds circle"/>
          <p:cNvSpPr/>
          <p:nvPr/>
        </p:nvSpPr>
        <p:spPr>
          <a:xfrm>
            <a:off x="4572000" y="2148840"/>
            <a:ext cx="548640" cy="54864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9" name="Icon Review the problems it finds" descr="Icon Review the problems it fin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2860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03520" y="2148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problems it finds</a:t>
            </a:r>
            <a:endParaRPr lang="en-US" sz="1800" dirty="0"/>
          </a:p>
        </p:txBody>
      </p:sp>
      <p:sp>
        <p:nvSpPr>
          <p:cNvPr id="11" name="Icon Commit when the counts match circle"/>
          <p:cNvSpPr/>
          <p:nvPr/>
        </p:nvSpPr>
        <p:spPr>
          <a:xfrm>
            <a:off x="4572000" y="2926080"/>
            <a:ext cx="548640" cy="54864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12" name="Icon Commit when the counts match" descr="Icon Commit when the counts mat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0632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03520" y="2926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when the counts match</a:t>
            </a:r>
            <a:endParaRPr lang="en-US" sz="1800" dirty="0"/>
          </a:p>
        </p:txBody>
      </p:sp>
      <p:sp>
        <p:nvSpPr>
          <p:cNvPr id="14" name="Icon Roll back if anything is wrong circle"/>
          <p:cNvSpPr/>
          <p:nvPr/>
        </p:nvSpPr>
        <p:spPr>
          <a:xfrm>
            <a:off x="4572000" y="3703320"/>
            <a:ext cx="548640" cy="54864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15" name="Icon Roll back if anything is wrong" descr="Icon Roll back if anything is wro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84048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303520" y="3703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back if anything is wrong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Trust is built in</a:t>
            </a:r>
            <a:endParaRPr lang="en-US" sz="3200" dirty="0"/>
          </a:p>
        </p:txBody>
      </p:sp>
      <p:sp>
        <p:nvSpPr>
          <p:cNvPr id="3" name="Trust card Roles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Roles circle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5" name="Icon Roles" descr="Icon Ro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973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9659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built-in roles and custom ones. People see only what they need.</a:t>
            </a:r>
            <a:endParaRPr lang="en-US" sz="1400" dirty="0"/>
          </a:p>
        </p:txBody>
      </p:sp>
      <p:sp>
        <p:nvSpPr>
          <p:cNvPr id="8" name="Trust card Audit log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 Audit log circle"/>
          <p:cNvSpPr/>
          <p:nvPr/>
        </p:nvSpPr>
        <p:spPr>
          <a:xfrm>
            <a:off x="4892040" y="173736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10" name="Icon Audit log" descr="Icon Audit l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8973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log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19659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recorded and cannot be edited afterwards.</a:t>
            </a:r>
            <a:endParaRPr lang="en-US" sz="1400" dirty="0"/>
          </a:p>
        </p:txBody>
      </p:sp>
      <p:sp>
        <p:nvSpPr>
          <p:cNvPr id="13" name="Trust card Patron privacy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 Patron privacy circle"/>
          <p:cNvSpPr/>
          <p:nvPr/>
        </p:nvSpPr>
        <p:spPr>
          <a:xfrm>
            <a:off x="777240" y="333756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15" name="Icon Patron privacy" descr="Icon Patron privac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4975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Patron privacy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3566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patron, or erase their details. History stays without names.</a:t>
            </a:r>
            <a:endParaRPr lang="en-US" sz="1400" dirty="0"/>
          </a:p>
        </p:txBody>
      </p:sp>
      <p:sp>
        <p:nvSpPr>
          <p:cNvPr id="18" name="Trust card Backups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on Backups circle"/>
          <p:cNvSpPr/>
          <p:nvPr/>
        </p:nvSpPr>
        <p:spPr>
          <a:xfrm>
            <a:off x="4892040" y="333756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20" name="Icon Backups" descr="Icon Backup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4975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6072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Backups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5760720" y="3566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backup, and a drill that proves a restore is exact.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Installs and updates with no internet</a:t>
            </a:r>
            <a:endParaRPr lang="en-US" sz="3200" dirty="0"/>
          </a:p>
        </p:txBody>
      </p:sp>
      <p:sp>
        <p:nvSpPr>
          <p:cNvPr id="3" name="Deploy card Install"/>
          <p:cNvSpPr/>
          <p:nvPr/>
        </p:nvSpPr>
        <p:spPr>
          <a:xfrm>
            <a:off x="548640" y="137160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Install circle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5" name="Icon Install" descr="Icon Insta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834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signed package. The installer checks it before it changes anything.</a:t>
            </a:r>
            <a:endParaRPr lang="en-US" sz="1400" dirty="0"/>
          </a:p>
        </p:txBody>
      </p:sp>
      <p:sp>
        <p:nvSpPr>
          <p:cNvPr id="8" name="Deploy card Update"/>
          <p:cNvSpPr/>
          <p:nvPr/>
        </p:nvSpPr>
        <p:spPr>
          <a:xfrm>
            <a:off x="3291840" y="137160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 Update circle"/>
          <p:cNvSpPr/>
          <p:nvPr/>
        </p:nvSpPr>
        <p:spPr>
          <a:xfrm>
            <a:off x="3520440" y="160020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10" name="Icon Update" descr="Icon Upd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834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 up, rehearses on a copy of your data, then switches.</a:t>
            </a:r>
            <a:endParaRPr lang="en-US" sz="1400" dirty="0"/>
          </a:p>
        </p:txBody>
      </p:sp>
      <p:sp>
        <p:nvSpPr>
          <p:cNvPr id="13" name="Deploy card Roll back"/>
          <p:cNvSpPr/>
          <p:nvPr/>
        </p:nvSpPr>
        <p:spPr>
          <a:xfrm>
            <a:off x="6035040" y="137160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 Roll back circle"/>
          <p:cNvSpPr/>
          <p:nvPr/>
        </p:nvSpPr>
        <p:spPr>
          <a:xfrm>
            <a:off x="6263640" y="160020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15" name="Icon Roll back" descr="Icon Roll ba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7602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 back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834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returns to the last version, with the data proven unchanged.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an automated run with the network blocked.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Proven, not promised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864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606040" y="1737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of 12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2697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737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of 10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697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scenarios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1737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259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2697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in the demo library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is linked to the tests that prove it.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is real, and what comes next</a:t>
            </a:r>
            <a:endParaRPr lang="en-US" sz="3200" dirty="0"/>
          </a:p>
        </p:txBody>
      </p:sp>
      <p:sp>
        <p:nvSpPr>
          <p:cNvPr id="3" name="Built column"/>
          <p:cNvSpPr/>
          <p:nvPr/>
        </p:nvSpPr>
        <p:spPr>
          <a:xfrm>
            <a:off x="548640" y="1371600"/>
            <a:ext cx="393192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ext column"/>
          <p:cNvSpPr/>
          <p:nvPr/>
        </p:nvSpPr>
        <p:spPr>
          <a:xfrm>
            <a:off x="4663440" y="1371600"/>
            <a:ext cx="393192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tested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add-on with simulated devices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SIP2 connector, tested on a simulator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install, update and rollback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 library you can run in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Next, with a real site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01168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for a real reader, gate and printer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SIP2 against the library's own ILMS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with library staff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NCIP, if a site needs 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See it yourself in five minutes</a:t>
            </a:r>
            <a:endParaRPr lang="en-US" sz="3200" dirty="0"/>
          </a:p>
        </p:txBody>
      </p:sp>
      <p:sp>
        <p:nvSpPr>
          <p:cNvPr id="3" name="Command box"/>
          <p:cNvSpPr/>
          <p:nvPr/>
        </p:nvSpPr>
        <p:spPr>
          <a:xfrm>
            <a:off x="548640" y="1371600"/>
            <a:ext cx="8046720" cy="1737360"/>
          </a:xfrm>
          <a:prstGeom prst="roundRect">
            <a:avLst>
              <a:gd name="adj" fmla="val 4211"/>
            </a:avLst>
          </a:prstGeom>
          <a:solidFill>
            <a:srgbClr val="0A1E2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FE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https://github.com/VighneshHM/aisys-rls.git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FE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aisys seed-demo        # loads the demo library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FE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aisys run              # open http://127.0.0.1:8000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steps are in the README. Every design decision is written down in the docs folder.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SYS Library">
  <a:themeElements>
    <a:clrScheme name="AISYS Library">
      <a:dk1>
        <a:srgbClr val="1B2B3A"/>
      </a:dk1>
      <a:lt1>
        <a:srgbClr val="FFFFFF"/>
      </a:lt1>
      <a:dk2>
        <a:srgbClr val="0F2A3D"/>
      </a:dk2>
      <a:lt2>
        <a:srgbClr val="EDF3F4"/>
      </a:lt2>
      <a:accent1>
        <a:srgbClr val="1C7C7D"/>
      </a:accent1>
      <a:accent2>
        <a:srgbClr val="F2A541"/>
      </a:accent2>
      <a:accent3>
        <a:srgbClr val="2FA39A"/>
      </a:accent3>
      <a:accent4>
        <a:srgbClr val="5B7C99"/>
      </a:accent4>
      <a:accent5>
        <a:srgbClr val="C8553D"/>
      </a:accent5>
      <a:accent6>
        <a:srgbClr val="8FB8B5"/>
      </a:accent6>
      <a:hlink>
        <a:srgbClr val="1C7C7D"/>
      </a:hlink>
      <a:folHlink>
        <a:srgbClr val="5B7C99"/>
      </a:folHlink>
    </a:clrScheme>
    <a:fontScheme name="AISYS Libra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AISYS RFID Library</dc:title>
  <dc:subject>PptxGenJS Presentation</dc:subject>
  <dc:creator>Candidate</dc:creator>
  <cp:lastModifiedBy>Candidate</cp:lastModifiedBy>
  <cp:revision>1</cp:revision>
  <dcterms:created xsi:type="dcterms:W3CDTF">2026-10-10T13:39:40Z</dcterms:created>
  <dcterms:modified xsi:type="dcterms:W3CDTF">2026-10-10T13:39:40Z</dcterms:modified>
</cp:coreProperties>
</file>